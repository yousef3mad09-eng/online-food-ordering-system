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800e9f2-9b0c-27bc-da86-2f5a4dacf413}">
          <p14:sldIdLst>
            <p14:sldId id="256"/>
          </p14:sldIdLst>
        </p14:section>
        <p14:section name="Project" id="{4c93a4ad-c1e7-aa50-a119-f53f5e6ae67a}">
          <p14:sldIdLst>
            <p14:sldId id="257"/>
            <p14:sldId id="258"/>
            <p14:sldId id="259"/>
          </p14:sldIdLst>
        </p14:section>
        <p14:section name="Examples" id="{2ee47b79-3e0f-057c-5d96-9c6c88592270}">
          <p14:sldIdLst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the team members and the supervisor. Mention that the work is about writing test cases for a login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requires at least 15 test cases. We wrote 20 and linked them to all the team's acceptance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columns of the sheet. Linked conditions appear in the Title (AC numbers) and in Pre.conditions.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of the table is one group of acceptance conditions from the team. Every group has at least three test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the question: what is the difference between positive and negative? Answer: positive = valid data, negative = invalid data. Negative is the test type, not a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tests matter because a login page protects user accounts. Remind the audience that such tests are done only on training sites or with permission.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values were not given in the conditions, so we agreed on them as assumptions. They can be changed to match the real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20 test cases covering AC1 to AC10, linked conditions, positive and negative. Then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B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B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 for a Login Page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Manual Software Testing  |  DEPI Mini Project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Group Server team</a:t>
            </a:r>
            <a:endParaRPr lang="en-US" sz="2200" dirty="0"/>
          </a:p>
        </p:txBody>
      </p:sp>
      <p:sp>
        <p:nvSpPr>
          <p:cNvPr id="4" name="member-1"/>
          <p:cNvSpPr txBox="1"/>
          <p:nvPr/>
        </p:nvSpPr>
        <p:spPr>
          <a:xfrm>
            <a:off x="822960" y="4846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Hatem Amin</a:t>
            </a:r>
            <a:endParaRPr lang="en-US" sz="2000" dirty="0"/>
          </a:p>
        </p:txBody>
      </p:sp>
      <p:sp>
        <p:nvSpPr>
          <p:cNvPr id="5" name="member-2"/>
          <p:cNvSpPr txBox="1"/>
          <p:nvPr/>
        </p:nvSpPr>
        <p:spPr>
          <a:xfrm>
            <a:off x="2926080" y="4846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Emad</a:t>
            </a:r>
            <a:endParaRPr lang="en-US" sz="2000" dirty="0"/>
          </a:p>
        </p:txBody>
      </p:sp>
      <p:sp>
        <p:nvSpPr>
          <p:cNvPr id="6" name="member-3"/>
          <p:cNvSpPr txBox="1"/>
          <p:nvPr/>
        </p:nvSpPr>
        <p:spPr>
          <a:xfrm>
            <a:off x="5029200" y="4846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Shawky</a:t>
            </a:r>
            <a:endParaRPr lang="en-US" sz="2000" dirty="0"/>
          </a:p>
        </p:txBody>
      </p:sp>
      <p:sp>
        <p:nvSpPr>
          <p:cNvPr id="7" name="member-4"/>
          <p:cNvSpPr txBox="1"/>
          <p:nvPr/>
        </p:nvSpPr>
        <p:spPr>
          <a:xfrm>
            <a:off x="7132320" y="4846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Basmala Ali</a:t>
            </a:r>
            <a:endParaRPr lang="en-US" sz="2000" dirty="0"/>
          </a:p>
        </p:txBody>
      </p:sp>
      <p:sp>
        <p:nvSpPr>
          <p:cNvPr id="8" name="member-5"/>
          <p:cNvSpPr txBox="1"/>
          <p:nvPr/>
        </p:nvSpPr>
        <p:spPr>
          <a:xfrm>
            <a:off x="9235440" y="4846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Ahmed</a:t>
            </a:r>
            <a:endParaRPr lang="en-US" sz="2000" dirty="0"/>
          </a:p>
        </p:txBody>
      </p:sp>
      <p:sp>
        <p:nvSpPr>
          <p:cNvPr id="9" name="supervisor"/>
          <p:cNvSpPr txBox="1"/>
          <p:nvPr/>
        </p:nvSpPr>
        <p:spPr>
          <a:xfrm>
            <a:off x="822960" y="5532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 Eng. Mahmoud Raslan</a:t>
            </a:r>
            <a:endParaRPr lang="en-US" sz="2000" dirty="0"/>
          </a:p>
        </p:txBody>
      </p:sp>
      <p:pic>
        <p:nvPicPr>
          <p:cNvPr id="10" name="hero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6400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asked for</a:t>
            </a:r>
            <a:endParaRPr lang="en-US" sz="3800" dirty="0"/>
          </a:p>
        </p:txBody>
      </p:sp>
      <p:sp>
        <p:nvSpPr>
          <p:cNvPr id="3" name="card"/>
          <p:cNvSpPr/>
          <p:nvPr/>
        </p:nvSpPr>
        <p:spPr>
          <a:xfrm>
            <a:off x="640080" y="164592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7830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required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4206240" y="164592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06240" y="17830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80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delivered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21031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Test case writing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Positive and negative scenarios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Expected results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Valid, invalid, empty and long input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640080" y="420624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3434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we turned every acceptance condition (AC1 to AC10) written by the team into test cases, then selected the 20 most important ones that still cover all conditions.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B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test case is built</a:t>
            </a:r>
            <a:endParaRPr lang="en-US" sz="3800" dirty="0"/>
          </a:p>
        </p:txBody>
      </p:sp>
      <p:sp>
        <p:nvSpPr>
          <p:cNvPr id="3" name="card"/>
          <p:cNvSpPr/>
          <p:nvPr/>
        </p:nvSpPr>
        <p:spPr>
          <a:xfrm>
            <a:off x="640080" y="16459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4" name="icon-bg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075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code like LOG-01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43400" y="16459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9" name="icon-bg"/>
          <p:cNvSpPr/>
          <p:nvPr/>
        </p:nvSpPr>
        <p:spPr>
          <a:xfrm>
            <a:off x="4617720" y="19202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0756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numbers + what is tested + type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046720" y="16459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4" name="icon-bg"/>
          <p:cNvSpPr/>
          <p:nvPr/>
        </p:nvSpPr>
        <p:spPr>
          <a:xfrm>
            <a:off x="8321040" y="19202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0756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Pre.conditions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Connection, email and password state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40080" y="3886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9" name="icon-bg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31596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440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14400" y="5303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actions with the exact data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43400" y="3886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4" name="icon-bg"/>
          <p:cNvSpPr/>
          <p:nvPr/>
        </p:nvSpPr>
        <p:spPr>
          <a:xfrm>
            <a:off x="4617720" y="416052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31596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1772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5303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page must do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046720" y="3886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9" name="icon-bg"/>
          <p:cNvSpPr/>
          <p:nvPr/>
        </p:nvSpPr>
        <p:spPr>
          <a:xfrm>
            <a:off x="8321040" y="416052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4315968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2104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22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303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or Negative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B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condition is covered</a:t>
            </a:r>
            <a:endParaRPr lang="en-US" sz="3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035040"/>
                <a:gridCol w="28346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Conditions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we test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Test cases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32"/>
                          </a:solidFill>
                        </a:rPr>
                        <a:t>AC1 / AC4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Valid login, password case, offline login, show/hide icon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LOG-01, 07, 08, 09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32"/>
                          </a:solidFill>
                        </a:rPr>
                        <a:t>AC2 / AC3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Empty and wrong email or password, error messages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LOG-02 to 06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32"/>
                          </a:solidFill>
                        </a:rPr>
                        <a:t>AC5 / AC7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SQL injection and account lockout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LOG-10 to 14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32"/>
                          </a:solidFill>
                        </a:rPr>
                        <a:t>AC6 / AC8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100 / 101 characters, script injection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LOG-15 to 17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32"/>
                          </a:solidFill>
                        </a:rPr>
                        <a:t>AC9 / AC10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HTTPS, Forgot Password and reset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LOG-18 to 20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B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vs Negative tests</a:t>
            </a:r>
            <a:endParaRPr lang="en-US" sz="3800" dirty="0"/>
          </a:p>
        </p:txBody>
      </p:sp>
      <p:sp>
        <p:nvSpPr>
          <p:cNvPr id="3" name="card"/>
          <p:cNvSpPr/>
          <p:nvPr/>
        </p:nvSpPr>
        <p:spPr>
          <a:xfrm>
            <a:off x="640080" y="1554480"/>
            <a:ext cx="5349240" cy="3017520"/>
          </a:xfrm>
          <a:prstGeom prst="roundRect">
            <a:avLst>
              <a:gd name="adj" fmla="val 3636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4" name="icon-bg"/>
          <p:cNvSpPr/>
          <p:nvPr/>
        </p:nvSpPr>
        <p:spPr>
          <a:xfrm>
            <a:off x="914400" y="178308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9385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input, the system should accept it.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461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LOG-01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Correct email + correct password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LOG-09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Show password icon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6172200" y="1554480"/>
            <a:ext cx="5349240" cy="3017520"/>
          </a:xfrm>
          <a:prstGeom prst="roundRect">
            <a:avLst>
              <a:gd name="adj" fmla="val 3636"/>
            </a:avLst>
          </a:prstGeom>
          <a:solidFill>
            <a:srgbClr val="FBE9DD"/>
          </a:solidFill>
          <a:ln w="12700">
            <a:solidFill>
              <a:srgbClr val="FBE9DD"/>
            </a:solidFill>
            <a:prstDash val="solid"/>
          </a:ln>
        </p:spPr>
      </p:sp>
      <p:sp>
        <p:nvSpPr>
          <p:cNvPr id="10" name="icon-bg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9385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or hostile input, the system should reject it.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32461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LOG-02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Correct email + wrong password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LOG-10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SQL injection in the email field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640080" y="484632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describes the type of the test, not its result. A negative test passes when the system correctly rejects the bad input.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B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tests</a:t>
            </a:r>
            <a:endParaRPr lang="en-US" sz="3800" dirty="0"/>
          </a:p>
        </p:txBody>
      </p:sp>
      <p:sp>
        <p:nvSpPr>
          <p:cNvPr id="3" name="card"/>
          <p:cNvSpPr/>
          <p:nvPr/>
        </p:nvSpPr>
        <p:spPr>
          <a:xfrm>
            <a:off x="640080" y="1645920"/>
            <a:ext cx="3474720" cy="4114800"/>
          </a:xfrm>
          <a:prstGeom prst="roundRect">
            <a:avLst>
              <a:gd name="adj" fmla="val 315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4" name="icon-bg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075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like ' OR '1'='1 must not bypass login or reveal database errors.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5166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LOG-10, 11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343400" y="1645920"/>
            <a:ext cx="3474720" cy="4114800"/>
          </a:xfrm>
          <a:prstGeom prst="roundRect">
            <a:avLst>
              <a:gd name="adj" fmla="val 315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0" name="icon-bg"/>
          <p:cNvSpPr/>
          <p:nvPr/>
        </p:nvSpPr>
        <p:spPr>
          <a:xfrm>
            <a:off x="4617720" y="19202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0756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3832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wrong attempts lock the account for 15 minutes, even with the correct password.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5166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LOG-12 to 14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8046720" y="1645920"/>
            <a:ext cx="3474720" cy="4114800"/>
          </a:xfrm>
          <a:prstGeom prst="roundRect">
            <a:avLst>
              <a:gd name="adj" fmla="val 315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6" name="icon-bg"/>
          <p:cNvSpPr/>
          <p:nvPr/>
        </p:nvSpPr>
        <p:spPr>
          <a:xfrm>
            <a:off x="8321040" y="19202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07568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and reset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3832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runs on HTTPS, and Forgot Password sends a reset link or OTP.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5166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LOG-18 to 20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B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we agreed on</a:t>
            </a:r>
            <a:endParaRPr lang="en-US" sz="3800" dirty="0"/>
          </a:p>
        </p:txBody>
      </p:sp>
      <p:sp>
        <p:nvSpPr>
          <p:cNvPr id="3" name="card"/>
          <p:cNvSpPr/>
          <p:nvPr/>
        </p:nvSpPr>
        <p:spPr>
          <a:xfrm>
            <a:off x="640080" y="164592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920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user@example.com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account (password Valid@123)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6172200" y="164592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920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characters per field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640080" y="379476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069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attempts / 15 min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983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rule</a:t>
            </a:r>
            <a:endParaRPr lang="en-US" sz="1700" dirty="0"/>
          </a:p>
        </p:txBody>
      </p:sp>
      <p:sp>
        <p:nvSpPr>
          <p:cNvPr id="12" name="card"/>
          <p:cNvSpPr/>
          <p:nvPr/>
        </p:nvSpPr>
        <p:spPr>
          <a:xfrm>
            <a:off x="6172200" y="379476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069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Email: not case-sensitive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983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case-sensitive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B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20 test cases  |  10 acceptance conditions  |  Positive and Negative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up Server QA">
  <a:themeElements>
    <a:clrScheme name="Group Server QA">
      <a:dk1>
        <a:srgbClr val="1B2A32"/>
      </a:dk1>
      <a:lt1>
        <a:srgbClr val="FFFFFF"/>
      </a:lt1>
      <a:dk2>
        <a:srgbClr val="0B3C49"/>
      </a:dk2>
      <a:lt2>
        <a:srgbClr val="E6F2F0"/>
      </a:lt2>
      <a:accent1>
        <a:srgbClr val="028090"/>
      </a:accent1>
      <a:accent2>
        <a:srgbClr val="02C39A"/>
      </a:accent2>
      <a:accent3>
        <a:srgbClr val="E07A3F"/>
      </a:accent3>
      <a:accent4>
        <a:srgbClr val="5B8E7D"/>
      </a:accent4>
      <a:accent5>
        <a:srgbClr val="3D5A80"/>
      </a:accent5>
      <a:accent6>
        <a:srgbClr val="8A9BA8"/>
      </a:accent6>
      <a:hlink>
        <a:srgbClr val="028090"/>
      </a:hlink>
      <a:folHlink>
        <a:srgbClr val="5B8E7D"/>
      </a:folHlink>
    </a:clrScheme>
    <a:fontScheme name="Group Server Q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Cases for a Login Page</dc:title>
  <dc:subject>PptxGenJS Presentation</dc:subject>
  <dc:creator>PptxGenJS</dc:creator>
  <cp:lastModifiedBy>PptxGenJS</cp:lastModifiedBy>
  <cp:revision>1</cp:revision>
  <dcterms:created xsi:type="dcterms:W3CDTF">2026-10-26T06:31:27Z</dcterms:created>
  <dcterms:modified xsi:type="dcterms:W3CDTF">2026-10-26T06:31:27Z</dcterms:modified>
</cp:coreProperties>
</file>