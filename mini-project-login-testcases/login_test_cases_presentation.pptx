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977639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FFFFFF"/>
                </a:solidFill>
                <a:latin typeface="Calibri"/>
              </a:rPr>
              <a:t>Hatem Amin  •  Yousef Emad  •  Omar Shawky  •  Mariam Ahmed  •  Basmala Ali</a:t>
            </a:r>
          </a:p>
          <a:p>
            <a:pPr algn="ctr">
              <a:spcBef>
                <a:spcPts val="1400"/>
              </a:spcBef>
            </a:pPr>
            <a:r>
              <a:rPr sz="1800" i="1">
                <a:solidFill>
                  <a:srgbClr val="D9E2F3"/>
                </a:solidFill>
                <a:latin typeface="Calibri"/>
              </a:rPr>
              <a:t>Under the supervision of Eng. Mahmoud Raslan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Test Cases for a Login Page</a:t>
            </a:r>
          </a:p>
          <a:p>
            <a:pPr algn="ctr">
              <a:spcBef>
                <a:spcPts val="1000"/>
              </a:spcBef>
            </a:pPr>
            <a:r>
              <a:rPr sz="2400">
                <a:solidFill>
                  <a:srgbClr val="D9E2F3"/>
                </a:solidFill>
                <a:latin typeface="Calibri"/>
              </a:rPr>
              <a:t>DEPI Mini Project — QA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  <a:latin typeface="Calibri"/>
              </a:rPr>
              <a:t>Objective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The project required at least 15 test cases covering: valid, invalid, empty, and long inputs.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We designed and documented 20 test cases in a shared sheet (live collaboration).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Coverage includes: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– Positive scenarios (successful login)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– Negative scenarios (wrong email, wrong password, empty fields)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– Security scenarios (SQL Injection, lockout, HTTPS, Forgot Password)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– Boundary / long-input scenarios (100-character limit)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99999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  <a:latin typeface="Calibri"/>
              </a:rPr>
              <a:t>Test Case Structure</a:t>
            </a:r>
          </a:p>
          <a:p>
            <a:r>
              <a:rPr sz="1800">
                <a:solidFill>
                  <a:srgbClr val="555555"/>
                </a:solidFill>
                <a:latin typeface="Calibri"/>
              </a:rPr>
              <a:t>Screenshot from our shared sheet — replace with an actual sheet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Calibri"/>
              </a:rPr>
              <a:t>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481328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22222"/>
                </a:solidFill>
                <a:latin typeface="Calibri"/>
              </a:rPr>
              <a:t>Unique identifier (LOG-01 … LOG-20)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Calibri"/>
              </a:rPr>
              <a:t>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258568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22222"/>
                </a:solidFill>
                <a:latin typeface="Calibri"/>
              </a:rPr>
              <a:t>Scenario summary + linked ACs (e.g. [AC2, AC3])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Calibri"/>
              </a:rPr>
              <a:t>Pre.conditions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035808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22222"/>
                </a:solidFill>
                <a:latin typeface="Calibri"/>
              </a:rPr>
              <a:t>System state before executing (page open, online, data ready)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Calibri"/>
              </a:rP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813048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22222"/>
                </a:solidFill>
                <a:latin typeface="Calibri"/>
              </a:rPr>
              <a:t>Numbered, exact actions and test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Calibri"/>
              </a:rPr>
              <a:t>Expected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590288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22222"/>
                </a:solidFill>
                <a:latin typeface="Calibri"/>
              </a:rPr>
              <a:t>Observable, checkable outcome (error text, redirection, no request sent)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4924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Calibri"/>
              </a:rPr>
              <a:t>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367527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22222"/>
                </a:solidFill>
                <a:latin typeface="Calibri"/>
              </a:rPr>
              <a:t>Positive / Negative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99999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  <a:latin typeface="Calibri"/>
              </a:rPr>
              <a:t>Acceptance Criteria Coverage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858000"/>
                <a:gridCol w="2743200"/>
              </a:tblGrid>
              <a:tr h="440574"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Acceptance 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Test Case(s)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AC1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Login page loads correctly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LOG-01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AC2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Login with valid credentials succeeds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LOG-01, LOG-02, LOG-06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AC3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Invalid credentials show generic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LOG-02, LOG-03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AC4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User redirected to dashboard on success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LOG-01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AC5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Empty fields blocked client-side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LOG-04, LOG-05, LOG-06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AC6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Generic message does not reveal which field 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LOG-02, LOG-03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AC7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Long inputs handled (100-char 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LOG-15, LOG-16*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AC8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Account locked after 5 failed attempts for 15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LOG-17*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AC9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Login page served over HTTPS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LOG-18*</a:t>
                      </a:r>
                    </a:p>
                  </a:txBody>
                  <a:tcPr/>
                </a:tc>
              </a:tr>
              <a:tr h="440580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AC10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Forgot Password flow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LOG-19, LOG-20*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999999"/>
                </a:solidFill>
                <a:latin typeface="Calibri"/>
              </a:rPr>
              <a:t>* Update IDs/names to match your final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99999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  <a:latin typeface="Calibri"/>
              </a:rPr>
              <a:t>Positive vs Negative — with live examples from the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394960" cy="3017520"/>
          </a:xfrm>
          <a:prstGeom prst="rect">
            <a:avLst/>
          </a:prstGeom>
          <a:solidFill>
            <a:srgbClr val="F2F6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/>
            <a:r>
              <a:rPr sz="2000" b="1">
                <a:solidFill>
                  <a:srgbClr val="1F4E79"/>
                </a:solidFill>
                <a:latin typeface="Calibri"/>
              </a:rPr>
              <a:t>LOG-01 — Positive</a:t>
            </a:r>
          </a:p>
          <a:p>
            <a:r>
              <a:rPr sz="1500">
                <a:solidFill>
                  <a:srgbClr val="222222"/>
                </a:solidFill>
                <a:latin typeface="Calibri"/>
              </a:rPr>
              <a:t>Steps: valid email + valid password → click Login</a:t>
            </a:r>
          </a:p>
          <a:p>
            <a:r>
              <a:rPr sz="1500">
                <a:solidFill>
                  <a:srgbClr val="222222"/>
                </a:solidFill>
                <a:latin typeface="Calibri"/>
              </a:rPr>
              <a:t>Expected: login succeeds, user redirected to dashboard</a:t>
            </a:r>
          </a:p>
          <a:p>
            <a:r>
              <a:rPr sz="1500">
                <a:solidFill>
                  <a:srgbClr val="222222"/>
                </a:solidFill>
                <a:latin typeface="Calibri"/>
              </a:rPr>
              <a:t>Pass condition: redirection happens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5394960" cy="3017520"/>
          </a:xfrm>
          <a:prstGeom prst="rect">
            <a:avLst/>
          </a:prstGeom>
          <a:solidFill>
            <a:srgbClr val="F2F6FB"/>
          </a:solidFill>
          <a:ln>
            <a:solidFill>
              <a:srgbClr val="B0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/>
            <a:r>
              <a:rPr sz="2000" b="1">
                <a:solidFill>
                  <a:srgbClr val="B03A2E"/>
                </a:solidFill>
                <a:latin typeface="Calibri"/>
              </a:rPr>
              <a:t>LOG-02 — Negative</a:t>
            </a:r>
          </a:p>
          <a:p>
            <a:r>
              <a:rPr sz="1500">
                <a:solidFill>
                  <a:srgbClr val="222222"/>
                </a:solidFill>
                <a:latin typeface="Calibri"/>
              </a:rPr>
              <a:t>Steps: valid email + wrong password → click Login</a:t>
            </a:r>
          </a:p>
          <a:p>
            <a:r>
              <a:rPr sz="1500">
                <a:solidFill>
                  <a:srgbClr val="222222"/>
                </a:solidFill>
                <a:latin typeface="Calibri"/>
              </a:rPr>
              <a:t>Expected: generic error “Wrong email or password”, stay on page</a:t>
            </a:r>
          </a:p>
          <a:p>
            <a:r>
              <a:rPr sz="1500">
                <a:solidFill>
                  <a:srgbClr val="222222"/>
                </a:solidFill>
                <a:latin typeface="Calibri"/>
              </a:rPr>
              <a:t>Checks: no field-specific hint, no server request leak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Calibri"/>
              </a:rPr>
              <a:t>Key point: “Negative” describes the test TYPE (invalid input), not the outcome. </a:t>
            </a:r>
          </a:p>
          <a:p>
            <a:r>
              <a:rPr sz="1800">
                <a:solidFill>
                  <a:srgbClr val="222222"/>
                </a:solidFill>
                <a:latin typeface="Calibri"/>
              </a:rPr>
              <a:t>A negative test can still PASS — if the system rejects the bad input exactly as expected.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99999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  <a:latin typeface="Calibri"/>
              </a:rPr>
              <a:t>Security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840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Calibri"/>
              </a:rPr>
              <a:t>SQL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399032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22222"/>
                </a:solidFill>
                <a:latin typeface="Calibri"/>
              </a:rPr>
              <a:t>Enter payloads like ' OR '1'='1 in email/password → must be rejected/escaped, no data exposed, no crash.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3840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Calibri"/>
              </a:rPr>
              <a:t>Account Lockout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450591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22222"/>
                </a:solidFill>
                <a:latin typeface="Calibri"/>
              </a:rPr>
              <a:t>5 failed attempts in a row → account locked for 15 minutes; further attempts blocked.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3840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Calibri"/>
              </a:rPr>
              <a:t>HTTPS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3502151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22222"/>
                </a:solidFill>
                <a:latin typeface="Calibri"/>
              </a:rPr>
              <a:t>Login page and credentials must be served only over HTTPS; no data sent over plain HTTP.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79"/>
            <a:ext cx="3840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Calibri"/>
              </a:rPr>
              <a:t>Forgot Password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4553712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22222"/>
                </a:solidFill>
                <a:latin typeface="Calibri"/>
              </a:rPr>
              <a:t>Reset link flows correctly; reset link expires; old password stops working after reset.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555555"/>
                </a:solidFill>
                <a:latin typeface="Calibri"/>
              </a:rPr>
              <a:t>Why it matters: the login page is the most attacked entry point of any application.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99999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  <a:latin typeface="Calibri"/>
              </a:rPr>
              <a:t>Conclusion &amp;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What was done: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– 20 documented test cases (15 required) covering all 10 acceptance criteria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– Shared sheet with full structure: ID, Title, Pre-conditions, Steps, Expected results, Status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What we learned: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– Writing steps as exact actions with test data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– Generic error messages prevent user-enumeration attacks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– Distinguishing test type (Positive/Negative) from test result (Pass/Fail)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Assumptions agreed by the team: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– Registered test account: user@example.com / Valid@123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– Input limit: 100 characters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– Lockout after 5 failed attempts for 15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99999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Questions &amp; Answers</a:t>
            </a:r>
          </a:p>
          <a:p>
            <a:pPr algn="ctr"/>
            <a:r>
              <a:rPr sz="2800">
                <a:solidFill>
                  <a:srgbClr val="D9E2F3"/>
                </a:solidFill>
                <a:latin typeface="Calibri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